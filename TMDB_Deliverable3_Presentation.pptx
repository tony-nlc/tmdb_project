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TMDB Movie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AA520"/>
                </a:solidFill>
              </a:defRPr>
            </a:pPr>
            <a:r>
              <a:t>Deliverable 3: EDA, Statistical Inference &amp; Tableau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Dataset: TMDB (The Movie Database) - 3,901 movies with budget &amp; revenue</a:t>
            </a:r>
          </a:p>
          <a:p>
            <a:pPr>
              <a:spcAft>
                <a:spcPts val="1200"/>
              </a:spcAft>
              <a:defRPr sz="2000"/>
            </a:pPr>
            <a:r>
              <a:t>• Features: Budget, Revenue, Ratings, Genres, Release Dates, Runtime</a:t>
            </a:r>
          </a:p>
          <a:p>
            <a:pPr>
              <a:spcAft>
                <a:spcPts val="1200"/>
              </a:spcAft>
              <a:defRPr sz="2000"/>
            </a:pPr>
            <a:r>
              <a:t>• Tools Used: Python (Pandas, Matplotlib, Seaborn, SciPy), Tableau</a:t>
            </a:r>
          </a:p>
          <a:p>
            <a:pPr>
              <a:spcAft>
                <a:spcPts val="1200"/>
              </a:spcAft>
              <a:defRPr sz="2000"/>
            </a:pPr>
            <a:r>
              <a:t>• Objective: Derive actionable insights from movie data through EDA &amp; statistics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Total Records: 3,901 movies (with budget &amp; revenue &gt; 0)</a:t>
            </a:r>
          </a:p>
          <a:p>
            <a:pPr>
              <a:spcAft>
                <a:spcPts val="1200"/>
              </a:spcAft>
              <a:defRPr sz="2000"/>
            </a:pPr>
            <a:r>
              <a:t>• Features Analyzed: Budget, Revenue, Runtime, Popularity, Ratings</a:t>
            </a:r>
          </a:p>
          <a:p>
            <a:pPr>
              <a:spcAft>
                <a:spcPts val="1200"/>
              </a:spcAft>
              <a:defRPr sz="2000"/>
            </a:pPr>
            <a:r>
              <a:t>• Data Quality: Handled missing values, created log transformations</a:t>
            </a:r>
          </a:p>
          <a:p>
            <a:pPr>
              <a:spcAft>
                <a:spcPts val="1200"/>
              </a:spcAft>
              <a:defRPr sz="2000"/>
            </a:pPr>
            <a:r>
              <a:t>• Top Genres by Volume: Drama (1,812), Comedy (1,479), Action (1,003)</a:t>
            </a:r>
          </a:p>
          <a:p>
            <a:pPr>
              <a:spcAft>
                <a:spcPts val="1200"/>
              </a:spcAft>
              <a:defRPr sz="2000"/>
            </a:pPr>
            <a:r>
              <a:t>• Top by Revenue: Animation ($262M avg), Adventure ($227M), Action ($173M)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EDA Visualizations Created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Histograms: Distribution of budget, revenue, runtime, popularity</a:t>
            </a:r>
          </a:p>
          <a:p>
            <a:pPr>
              <a:spcAft>
                <a:spcPts val="1200"/>
              </a:spcAft>
              <a:defRPr sz="2000"/>
            </a:pPr>
            <a:r>
              <a:t>• Box Plots: Identify outliers in key metrics by genre</a:t>
            </a:r>
          </a:p>
          <a:p>
            <a:pPr>
              <a:spcAft>
                <a:spcPts val="1200"/>
              </a:spcAft>
              <a:defRPr sz="2000"/>
            </a:pPr>
            <a:r>
              <a:t>• Bar Charts: Top genres, top movie franchises by revenue</a:t>
            </a:r>
          </a:p>
          <a:p>
            <a:pPr>
              <a:spcAft>
                <a:spcPts val="1200"/>
              </a:spcAft>
              <a:defRPr sz="2000"/>
            </a:pPr>
            <a:r>
              <a:t>• Scatter Plots: Budget vs Revenue with trendlines</a:t>
            </a:r>
          </a:p>
          <a:p>
            <a:pPr>
              <a:spcAft>
                <a:spcPts val="1200"/>
              </a:spcAft>
              <a:defRPr sz="2000"/>
            </a:pPr>
            <a:r>
              <a:t>• Heatmaps: Correlation between numerical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Statistical Inference: Confidence Intervals (95%)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Mean Revenue: $108,143,432</a:t>
            </a:r>
          </a:p>
          <a:p>
            <a:pPr>
              <a:spcAft>
                <a:spcPts val="1200"/>
              </a:spcAft>
              <a:defRPr sz="2000"/>
            </a:pPr>
            <a:r>
              <a:t>•    95% CI: [$102.6M, $113.7M]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Mean Budget: $36,709,655</a:t>
            </a:r>
          </a:p>
          <a:p>
            <a:pPr>
              <a:spcAft>
                <a:spcPts val="1200"/>
              </a:spcAft>
              <a:defRPr sz="2000"/>
            </a:pPr>
            <a:r>
              <a:t>•    95% CI: [$35.4M, $38.0M]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Mean Vote Average: 6.46</a:t>
            </a:r>
          </a:p>
          <a:p>
            <a:pPr>
              <a:spcAft>
                <a:spcPts val="1200"/>
              </a:spcAft>
              <a:defRPr sz="2000"/>
            </a:pPr>
            <a:r>
              <a:t>•    95% CI: [6.43, 6.48]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Hypothesis Testing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AA520"/>
                </a:solidFill>
              </a:defRPr>
            </a:pPr>
            <a:r>
              <a:t>H1: Action vs Drama 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H0: Mean budget(Action) = Mean budget(Drama)</a:t>
            </a:r>
          </a:p>
          <a:p>
            <a:pPr>
              <a:spcAft>
                <a:spcPts val="800"/>
              </a:spcAft>
              <a:defRPr sz="1800"/>
            </a:pPr>
            <a:r>
              <a:t>• H1: Mean budget(Action) &gt; Mean budget(Drama)</a:t>
            </a:r>
          </a:p>
          <a:p>
            <a:pPr>
              <a:spcAft>
                <a:spcPts val="800"/>
              </a:spcAft>
              <a:defRPr sz="1800"/>
            </a:pPr>
            <a:r>
              <a:t>• Result: ✅ Reject H0 (p &lt; 0.001)</a:t>
            </a:r>
          </a:p>
          <a:p>
            <a:pPr>
              <a:spcAft>
                <a:spcPts val="800"/>
              </a:spcAft>
              <a:defRPr sz="1800"/>
            </a:pPr>
            <a:r>
              <a:t>• Action (n=1,003): Avg = $60.9M</a:t>
            </a:r>
          </a:p>
          <a:p>
            <a:pPr>
              <a:spcAft>
                <a:spcPts val="800"/>
              </a:spcAft>
              <a:defRPr sz="1800"/>
            </a:pPr>
            <a:r>
              <a:t>• Drama (n=1,812): Avg = $26.8M</a:t>
            </a:r>
          </a:p>
          <a:p>
            <a:pPr>
              <a:spcAft>
                <a:spcPts val="800"/>
              </a:spcAft>
              <a:defRPr sz="1800"/>
            </a:pPr>
            <a:r>
              <a:t>• t-statistic: 21.41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AA520"/>
                </a:solidFill>
              </a:defRPr>
            </a:pPr>
            <a:r>
              <a:t>H2: Homepage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H0: Revenue(with) = Revenue(without)</a:t>
            </a:r>
          </a:p>
          <a:p>
            <a:pPr>
              <a:spcAft>
                <a:spcPts val="800"/>
              </a:spcAft>
              <a:defRPr sz="1800"/>
            </a:pPr>
            <a:r>
              <a:t>• H1: Revenue(with) &gt; Revenue(without)</a:t>
            </a:r>
          </a:p>
          <a:p>
            <a:pPr>
              <a:spcAft>
                <a:spcPts val="800"/>
              </a:spcAft>
              <a:defRPr sz="1800"/>
            </a:pPr>
            <a:r>
              <a:t>• Result: ✅ Reject H0 (p &lt; 0.001)</a:t>
            </a:r>
          </a:p>
          <a:p>
            <a:pPr>
              <a:spcAft>
                <a:spcPts val="800"/>
              </a:spcAft>
              <a:defRPr sz="1800"/>
            </a:pPr>
            <a:r>
              <a:t>• With homepage: $161.9M avg</a:t>
            </a:r>
          </a:p>
          <a:p>
            <a:pPr>
              <a:spcAft>
                <a:spcPts val="800"/>
              </a:spcAft>
              <a:defRPr sz="1800"/>
            </a:pPr>
            <a:r>
              <a:t>• Without: $69.5M avg</a:t>
            </a:r>
          </a:p>
          <a:p>
            <a:pPr>
              <a:spcAft>
                <a:spcPts val="800"/>
              </a:spcAft>
              <a:defRPr sz="1800"/>
            </a:pPr>
            <a:r>
              <a:t>• t-statistic: 16.63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Hypothesis Test: Budget-Revenue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H0: No correlation between budget and revenue (ρ = 0)</a:t>
            </a:r>
          </a:p>
          <a:p>
            <a:pPr>
              <a:spcAft>
                <a:spcPts val="1200"/>
              </a:spcAft>
              <a:defRPr sz="2000"/>
            </a:pPr>
            <a:r>
              <a:t>• H1: Significant correlation exists (ρ ≠ 0)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Results:</a:t>
            </a:r>
          </a:p>
          <a:p>
            <a:pPr>
              <a:spcAft>
                <a:spcPts val="1200"/>
              </a:spcAft>
              <a:defRPr sz="2000"/>
            </a:pPr>
            <a:r>
              <a:t>• • Pearson Correlation: r = 0.71 (strong positive)</a:t>
            </a:r>
          </a:p>
          <a:p>
            <a:pPr>
              <a:spcAft>
                <a:spcPts val="1200"/>
              </a:spcAft>
              <a:defRPr sz="2000"/>
            </a:pPr>
            <a:r>
              <a:t>• • p-value: &lt; 0.001 (highly significant)</a:t>
            </a:r>
          </a:p>
          <a:p>
            <a:pPr>
              <a:spcAft>
                <a:spcPts val="1200"/>
              </a:spcAft>
              <a:defRPr sz="2000"/>
            </a:pPr>
            <a:r>
              <a:t>• • Conclusion: Budget strongly predicts revenue</a:t>
            </a:r>
          </a:p>
          <a:p>
            <a:pPr>
              <a:spcAft>
                <a:spcPts val="1200"/>
              </a:spcAft>
              <a:defRPr sz="2000"/>
            </a:pPr>
            <a:r>
              <a:t>• • Interpretation: For every $1 increase in budget, revenue increases significantly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Tableau 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Data Files: 6 CSV files generated (tableau_*.csv)</a:t>
            </a:r>
          </a:p>
          <a:p>
            <a:pPr>
              <a:spcAft>
                <a:spcPts val="1200"/>
              </a:spcAft>
              <a:defRPr sz="2000"/>
            </a:pPr>
            <a:r>
              <a:t>• • tableau_genre_summary.csv - Genre breakdown with avg revenue</a:t>
            </a:r>
          </a:p>
          <a:p>
            <a:pPr>
              <a:spcAft>
                <a:spcPts val="1200"/>
              </a:spcAft>
              <a:defRPr sz="2000"/>
            </a:pPr>
            <a:r>
              <a:t>• • tableau_year_trends.csv - Year-by-year trends (1916-2020)</a:t>
            </a:r>
          </a:p>
          <a:p>
            <a:pPr>
              <a:spcAft>
                <a:spcPts val="1200"/>
              </a:spcAft>
              <a:defRPr sz="2000"/>
            </a:pPr>
            <a:r>
              <a:t>• • tableau_budget_revenue.csv - For scatter plots (3,901 movies)</a:t>
            </a:r>
          </a:p>
          <a:p>
            <a:pPr>
              <a:spcAft>
                <a:spcPts val="1200"/>
              </a:spcAft>
              <a:defRPr sz="2000"/>
            </a:pPr>
            <a:r>
              <a:t>• • tableau_month_genre.csv - Revenue by month × genre</a:t>
            </a:r>
          </a:p>
          <a:p>
            <a:pPr>
              <a:spcAft>
                <a:spcPts val="1200"/>
              </a:spcAft>
              <a:defRPr sz="2000"/>
            </a:pPr>
            <a:r>
              <a:t>• • tableau_franchises.csv - Top 20 franchises</a:t>
            </a:r>
          </a:p>
          <a:p>
            <a:pPr>
              <a:spcAft>
                <a:spcPts val="1200"/>
              </a:spcAft>
              <a:defRPr sz="2000"/>
            </a:pPr>
            <a:r>
              <a:t>• • tableau_full_data.csv - Full cleaned dataset</a:t>
            </a:r>
          </a:p>
          <a:p>
            <a:pPr>
              <a:spcAft>
                <a:spcPts val="1200"/>
              </a:spcAft>
              <a:defRPr sz="2000"/>
            </a:pPr>
            <a:r>
              <a:t>• Interactive: Year slider, Genre dropdown, Budget range filter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Budget matters: r = 0.71 correlation with revenue</a:t>
            </a:r>
          </a:p>
          <a:p>
            <a:pPr>
              <a:spcAft>
                <a:spcPts val="1200"/>
              </a:spcAft>
              <a:defRPr sz="2000"/>
            </a:pPr>
            <a:r>
              <a:t>• 2. Top Genres by Revenue: Animation ($262M), Adventure ($227M), Family ($187M)</a:t>
            </a:r>
          </a:p>
          <a:p>
            <a:pPr>
              <a:spcAft>
                <a:spcPts val="1200"/>
              </a:spcAft>
              <a:defRPr sz="2000"/>
            </a:pPr>
            <a:r>
              <a:t>• 3. Top Franchises: Avatar ($2.9B), Avengers ($1.5B), Frozen ($1.3B)</a:t>
            </a:r>
          </a:p>
          <a:p>
            <a:pPr>
              <a:spcAft>
                <a:spcPts val="1200"/>
              </a:spcAft>
              <a:defRPr sz="2000"/>
            </a:pPr>
            <a:r>
              <a:t>• 4. Homepage Impact: Movies with homepages earn 2.3x more revenue</a:t>
            </a:r>
          </a:p>
          <a:p>
            <a:pPr>
              <a:spcAft>
                <a:spcPts val="1200"/>
              </a:spcAft>
              <a:defRPr sz="2000"/>
            </a:pPr>
            <a:r>
              <a:t>• 5. Action vs Drama: Action movies have 2.3x higher budgets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✅ Comprehensive EDA with multiple visualization types</a:t>
            </a:r>
          </a:p>
          <a:p>
            <a:pPr>
              <a:spcAft>
                <a:spcPts val="1200"/>
              </a:spcAft>
              <a:defRPr sz="2000"/>
            </a:pPr>
            <a:r>
              <a:t>• ✅ Statistical inference with 95% confidence intervals</a:t>
            </a:r>
          </a:p>
          <a:p>
            <a:pPr>
              <a:spcAft>
                <a:spcPts val="1200"/>
              </a:spcAft>
              <a:defRPr sz="2000"/>
            </a:pPr>
            <a:r>
              <a:t>• ✅ 3 hypothesis tests all statistically significant (p &lt; 0.001)</a:t>
            </a:r>
          </a:p>
          <a:p>
            <a:pPr>
              <a:spcAft>
                <a:spcPts val="1200"/>
              </a:spcAft>
              <a:defRPr sz="2000"/>
            </a:pPr>
            <a:r>
              <a:t>• ✅ Interactive Tableau dashboard with 6+ charts &amp; filters</a:t>
            </a:r>
          </a:p>
          <a:p>
            <a:pPr>
              <a:spcAft>
                <a:spcPts val="1200"/>
              </a:spcAft>
              <a:defRPr sz="2000"/>
            </a:pPr>
            <a:r>
              <a:t>• Key Takeaway: Budget is the strongest predictor of movie success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AA52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